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72" r:id="rId3"/>
    <p:sldId id="258" r:id="rId4"/>
    <p:sldId id="265" r:id="rId5"/>
    <p:sldId id="268" r:id="rId6"/>
    <p:sldId id="280" r:id="rId7"/>
    <p:sldId id="266" r:id="rId8"/>
    <p:sldId id="282" r:id="rId9"/>
    <p:sldId id="264" r:id="rId10"/>
    <p:sldId id="277" r:id="rId11"/>
    <p:sldId id="278" r:id="rId12"/>
    <p:sldId id="285" r:id="rId13"/>
    <p:sldId id="284" r:id="rId14"/>
    <p:sldId id="276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00AD"/>
    <a:srgbClr val="2563EC"/>
    <a:srgbClr val="F7D4FE"/>
    <a:srgbClr val="E9C2FF"/>
    <a:srgbClr val="E1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170"/>
  </p:normalViewPr>
  <p:slideViewPr>
    <p:cSldViewPr snapToGrid="0">
      <p:cViewPr varScale="1">
        <p:scale>
          <a:sx n="121" d="100"/>
          <a:sy n="121" d="100"/>
        </p:scale>
        <p:origin x="2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BE5BD-B9E6-3F4C-B1A1-F001CE17A243}" type="datetimeFigureOut">
              <a:rPr lang="en-US" smtClean="0"/>
              <a:t>5/7/25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58F989-A12D-6B40-ADDE-C1B254114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6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F24F9-C39D-3FA7-269B-BC9BC666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91268-FDBE-2D7F-D6D6-5E32D63D6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8A7AE-F482-64BE-7E60-CED0BB0F6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models treated equally. </a:t>
            </a:r>
          </a:p>
          <a:p>
            <a:r>
              <a:rPr lang="en-CA" b="1" dirty="0"/>
              <a:t>Equal Standing</a:t>
            </a:r>
            <a:r>
              <a:rPr lang="en-CA" dirty="0"/>
              <a:t>: Each AI model (binding, toxicity, synthesis) is treated as an independent "player" with its own satisfaction criteria. No model is inherently more important than others. </a:t>
            </a:r>
            <a:r>
              <a:rPr lang="en-CA" b="1" dirty="0"/>
              <a:t>No Predetermined Hierarchy</a:t>
            </a:r>
            <a:r>
              <a:rPr lang="en-CA" dirty="0"/>
              <a:t>: Unlike weighted ranking systems where you'd need to decide in advance that "toxicity is 50% more important than binding," the satisficing path approach doesn't require assigning relative importance. </a:t>
            </a:r>
            <a:r>
              <a:rPr lang="en-CA" b="1" dirty="0"/>
              <a:t>Objective Thresholds</a:t>
            </a:r>
            <a:r>
              <a:rPr lang="en-CA" dirty="0"/>
              <a:t>: Each model simply defines what constitutes "satisfactory" for its domain (e.g., binding score &gt; 7.5). These thresholds are based on scientific requirements rather than relative priorities. </a:t>
            </a:r>
            <a:r>
              <a:rPr lang="en-CA" b="1" dirty="0"/>
              <a:t>Emergent Balance</a:t>
            </a:r>
            <a:r>
              <a:rPr lang="en-CA" dirty="0"/>
              <a:t>: The balance emerges naturally through the path construction process rather than through explicit weighting or prioritization.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1ECB8-B1C8-3595-E579-0934652C5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8F989-A12D-6B40-ADDE-C1B2541144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79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models treated equally. </a:t>
            </a:r>
          </a:p>
          <a:p>
            <a:r>
              <a:rPr lang="en-CA" b="1" dirty="0"/>
              <a:t>Equal Standing</a:t>
            </a:r>
            <a:r>
              <a:rPr lang="en-CA" dirty="0"/>
              <a:t>: Each AI model (binding, toxicity, synthesis) is treated as an independent "player" with its own satisfaction criteria. No model is inherently more important than others. </a:t>
            </a:r>
            <a:r>
              <a:rPr lang="en-CA" b="1" dirty="0"/>
              <a:t>No Predetermined Hierarchy</a:t>
            </a:r>
            <a:r>
              <a:rPr lang="en-CA" dirty="0"/>
              <a:t>: Unlike weighted ranking systems where you'd need to decide in advance that "toxicity is 50% more important than binding," the satisficing path approach doesn't require assigning relative importance. </a:t>
            </a:r>
            <a:r>
              <a:rPr lang="en-CA" b="1" dirty="0"/>
              <a:t>Objective Thresholds</a:t>
            </a:r>
            <a:r>
              <a:rPr lang="en-CA" dirty="0"/>
              <a:t>: Each model simply defines what constitutes "satisfactory" for its domain (e.g., binding score &gt; 7.5). These thresholds are based on scientific requirements rather than relative priorities. </a:t>
            </a:r>
            <a:r>
              <a:rPr lang="en-CA" b="1" dirty="0"/>
              <a:t>Emergent Balance</a:t>
            </a:r>
            <a:r>
              <a:rPr lang="en-CA" dirty="0"/>
              <a:t>: The balance emerges naturally through the path construction process rather than through explicit weighting or prioritization.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8F989-A12D-6B40-ADDE-C1B2541144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03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FAA10-7364-D251-5DDB-63F2B93CC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EF8E6-E5F9-4BC0-877E-8CA4BA337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8EA2C-71E2-FCC8-6A44-E041056B8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models treated equally. </a:t>
            </a:r>
          </a:p>
          <a:p>
            <a:r>
              <a:rPr lang="en-CA" b="1" dirty="0"/>
              <a:t>Equal Standing</a:t>
            </a:r>
            <a:r>
              <a:rPr lang="en-CA" dirty="0"/>
              <a:t>: Each AI model (binding, toxicity, synthesis) is treated as an independent "player" with its own satisfaction criteria. No model is inherently more important than others. </a:t>
            </a:r>
            <a:r>
              <a:rPr lang="en-CA" b="1" dirty="0"/>
              <a:t>No Predetermined Hierarchy</a:t>
            </a:r>
            <a:r>
              <a:rPr lang="en-CA" dirty="0"/>
              <a:t>: Unlike weighted ranking systems where you'd need to decide in advance that "toxicity is 50% more important than binding," the satisficing path approach doesn't require assigning relative importance. </a:t>
            </a:r>
            <a:r>
              <a:rPr lang="en-CA" b="1" dirty="0"/>
              <a:t>Objective Thresholds</a:t>
            </a:r>
            <a:r>
              <a:rPr lang="en-CA" dirty="0"/>
              <a:t>: Each model simply defines what constitutes "satisfactory" for its domain (e.g., binding score &gt; 7.5). These thresholds are based on scientific requirements rather than relative priorities. </a:t>
            </a:r>
            <a:r>
              <a:rPr lang="en-CA" b="1" dirty="0"/>
              <a:t>Emergent Balance</a:t>
            </a:r>
            <a:r>
              <a:rPr lang="en-CA" dirty="0"/>
              <a:t>: The balance emerges naturally through the path construction process rather than through explicit weighting or prioritization.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D61BE-EA17-7674-914F-3124AAAA3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8F989-A12D-6B40-ADDE-C1B2541144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59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039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6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77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14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13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2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68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40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8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233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83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28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bstract red geometric pattern">
            <a:extLst>
              <a:ext uri="{FF2B5EF4-FFF2-40B4-BE49-F238E27FC236}">
                <a16:creationId xmlns:a16="http://schemas.microsoft.com/office/drawing/2014/main" id="{72597DF3-9B24-ECBA-8418-89DD241D0A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1484" b="4246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D2E776-0A5D-63FA-0190-032939D66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6" y="1467424"/>
            <a:ext cx="11674134" cy="2450592"/>
          </a:xfrm>
        </p:spPr>
        <p:txBody>
          <a:bodyPr anchor="t">
            <a:normAutofit/>
          </a:bodyPr>
          <a:lstStyle/>
          <a:p>
            <a:r>
              <a:rPr lang="en-CA" sz="3600" dirty="0" err="1"/>
              <a:t>ToxQuest</a:t>
            </a:r>
            <a:br>
              <a:rPr lang="en-CA" sz="3600" dirty="0"/>
            </a:br>
            <a:r>
              <a:rPr lang="en-CA" sz="3600" dirty="0"/>
              <a:t>An AI Decision Support Tool for Drug Discovery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7A3DA-15F2-9244-9828-FD0382166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8" y="5504255"/>
            <a:ext cx="5040785" cy="646331"/>
          </a:xfrm>
        </p:spPr>
        <p:txBody>
          <a:bodyPr anchor="b">
            <a:normAutofit fontScale="85000" lnSpcReduction="10000"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Founder: Logan Germain, PhD Candidate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050FB2-5F5B-C3C0-AF8C-8E93AF2E0F9C}"/>
              </a:ext>
            </a:extLst>
          </p:cNvPr>
          <p:cNvSpPr txBox="1"/>
          <p:nvPr/>
        </p:nvSpPr>
        <p:spPr>
          <a:xfrm>
            <a:off x="517865" y="3061035"/>
            <a:ext cx="106359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i="1" dirty="0" err="1"/>
              <a:t>ToxQuest</a:t>
            </a:r>
            <a:r>
              <a:rPr lang="en-CA" sz="2000" i="1" dirty="0"/>
              <a:t> helps drug developers confidently take the leap from in silico to preclinical testing by turning fragmented AI toxicity predictions into clear, explainable shortlists of safe, viable candidates.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41391136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A711F-F26E-EA8D-9D3D-0B80B52AB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D9578-92F6-F99D-35FE-0A1F9817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1D9CE-55EA-F1C8-A25C-F4B56B4DA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112264"/>
            <a:ext cx="7644150" cy="376732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CA" sz="1800" dirty="0"/>
          </a:p>
          <a:p>
            <a:pPr>
              <a:buNone/>
            </a:pPr>
            <a:r>
              <a:rPr lang="en-CA" dirty="0"/>
              <a:t>While many tools can tell you if a compound </a:t>
            </a:r>
            <a:r>
              <a:rPr lang="en-CA" i="1" dirty="0"/>
              <a:t>might</a:t>
            </a:r>
            <a:r>
              <a:rPr lang="en-CA" dirty="0"/>
              <a:t> be toxic, </a:t>
            </a:r>
            <a:r>
              <a:rPr lang="en-CA" dirty="0" err="1"/>
              <a:t>ToxQuest</a:t>
            </a:r>
            <a:r>
              <a:rPr lang="en-CA" dirty="0"/>
              <a:t> tells you which compounds are safe enough to prioritize for your next preclinical experiment.</a:t>
            </a:r>
            <a:br>
              <a:rPr lang="en-CA" dirty="0"/>
            </a:br>
            <a:r>
              <a:rPr lang="en-CA" dirty="0"/>
              <a:t>It’s the bridge between noisy in silico outputs and costly wet-lab validation.</a:t>
            </a:r>
          </a:p>
          <a:p>
            <a:pPr>
              <a:buNone/>
            </a:pPr>
            <a:endParaRPr lang="en-CA" dirty="0"/>
          </a:p>
          <a:p>
            <a:pPr>
              <a:buNone/>
            </a:pPr>
            <a:r>
              <a:rPr lang="en-CA" sz="1800" dirty="0"/>
              <a:t>It’s a decision-support engine that takes raw toxicity predictions from existing, validated AI models and distills them into a clear, ranked list of the safest candidate molecules. </a:t>
            </a:r>
          </a:p>
          <a:p>
            <a:pPr>
              <a:buNone/>
            </a:pPr>
            <a:endParaRPr lang="en-CA" dirty="0"/>
          </a:p>
          <a:p>
            <a:pPr>
              <a:buNone/>
            </a:pPr>
            <a:r>
              <a:rPr lang="en-CA" dirty="0" err="1">
                <a:effectLst/>
              </a:rPr>
              <a:t>ToxQuest</a:t>
            </a:r>
            <a:r>
              <a:rPr lang="en-CA" dirty="0">
                <a:effectLst/>
              </a:rPr>
              <a:t> implements a revolutionary approach by coordinating specialized AI toxicity prediction models through a game theory concept called "satisficing paths." 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 descr="A blue funnel with a diagram of molecules&#10;&#10;AI-generated content may be incorrect.">
            <a:extLst>
              <a:ext uri="{FF2B5EF4-FFF2-40B4-BE49-F238E27FC236}">
                <a16:creationId xmlns:a16="http://schemas.microsoft.com/office/drawing/2014/main" id="{35157C73-4B3C-ADF6-E9EF-6800C990E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4598" y="858129"/>
            <a:ext cx="3216194" cy="574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1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28ABF-5427-A1A4-3FDA-59CD707D4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E45B5-7CC1-7C9D-E107-6B6F5E4A8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112264"/>
            <a:ext cx="11155680" cy="3767328"/>
          </a:xfrm>
        </p:spPr>
        <p:txBody>
          <a:bodyPr>
            <a:normAutofit/>
          </a:bodyPr>
          <a:lstStyle/>
          <a:p>
            <a:r>
              <a:rPr lang="en-US" sz="2200" dirty="0"/>
              <a:t>Early-stage drug development suffers from astronomically high failure rates – 90% of drug candidates fail before clinical trials!</a:t>
            </a:r>
          </a:p>
          <a:p>
            <a:pPr lvl="1"/>
            <a:r>
              <a:rPr lang="en-US" sz="2200" dirty="0"/>
              <a:t>This is often due to toxicities that emerge. </a:t>
            </a:r>
          </a:p>
          <a:p>
            <a:r>
              <a:rPr lang="en-US" sz="2200" dirty="0"/>
              <a:t>Drug development for a single drug: $515.8 million USD when factoring in failures (2000-2018).</a:t>
            </a:r>
          </a:p>
          <a:p>
            <a:r>
              <a:rPr lang="en-US" sz="2200" dirty="0"/>
              <a:t>10+ years from initial discovery to market approval. </a:t>
            </a:r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  <a:p>
            <a:pPr marL="457200" lvl="1" indent="0">
              <a:buNone/>
            </a:pPr>
            <a:endParaRPr lang="en-US" sz="2200" dirty="0"/>
          </a:p>
          <a:p>
            <a:pPr lvl="1"/>
            <a:endParaRPr lang="en-US" sz="2200" dirty="0"/>
          </a:p>
          <a:p>
            <a:pPr marL="457200" lvl="1" indent="0">
              <a:buNone/>
            </a:pP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42335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08EDA-AC26-3B46-D54C-79A36111E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F50C2-2334-906A-750C-C62285481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64" y="1819656"/>
            <a:ext cx="8442908" cy="490118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CA" b="1" dirty="0"/>
              <a:t>Imagine this: </a:t>
            </a:r>
          </a:p>
          <a:p>
            <a:pPr>
              <a:buNone/>
            </a:pPr>
            <a:r>
              <a:rPr lang="en-CA" dirty="0"/>
              <a:t>A team screens 300 molecules.</a:t>
            </a:r>
            <a:br>
              <a:rPr lang="en-CA" dirty="0"/>
            </a:br>
            <a:r>
              <a:rPr lang="en-CA" dirty="0"/>
              <a:t>They get outputs from leading AI models like </a:t>
            </a:r>
            <a:r>
              <a:rPr lang="en-CA" dirty="0" err="1"/>
              <a:t>DeepTox</a:t>
            </a:r>
            <a:r>
              <a:rPr lang="en-CA" dirty="0"/>
              <a:t>, </a:t>
            </a:r>
            <a:r>
              <a:rPr lang="en-CA" dirty="0" err="1"/>
              <a:t>ADMETlab</a:t>
            </a:r>
            <a:r>
              <a:rPr lang="en-CA" dirty="0"/>
              <a:t>, etc. → dozens of scores per compound.</a:t>
            </a:r>
            <a:br>
              <a:rPr lang="en-CA" dirty="0"/>
            </a:br>
            <a:r>
              <a:rPr lang="en-CA" dirty="0"/>
              <a:t>Now what? Manually cross-reference? </a:t>
            </a:r>
          </a:p>
          <a:p>
            <a:r>
              <a:rPr lang="en-CA" sz="1800" dirty="0"/>
              <a:t>Each model might excel </a:t>
            </a:r>
            <a:r>
              <a:rPr lang="en-CA" dirty="0"/>
              <a:t>at predicting different kinds of toxicities, but t</a:t>
            </a:r>
            <a:r>
              <a:rPr lang="en-CA" sz="1800" dirty="0"/>
              <a:t>hese models don’t talk to each other.</a:t>
            </a:r>
          </a:p>
          <a:p>
            <a:r>
              <a:rPr lang="en-CA" dirty="0"/>
              <a:t>Toxicity prediction models use different algorithms and data, leading to potentially contradictory results.</a:t>
            </a:r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r>
              <a:rPr lang="en-US" sz="2200" b="1" dirty="0"/>
              <a:t>Key Gap</a:t>
            </a:r>
            <a:r>
              <a:rPr lang="en-US" sz="2200" dirty="0"/>
              <a:t>: </a:t>
            </a:r>
            <a:r>
              <a:rPr lang="en-CA" sz="2200" dirty="0"/>
              <a:t>There is no AI coordination layer that weighs evidence from various sources available for early drug development toxicity prediction and provides you with your </a:t>
            </a:r>
            <a:r>
              <a:rPr lang="en-CA" sz="2200" i="1" dirty="0"/>
              <a:t>best</a:t>
            </a:r>
            <a:r>
              <a:rPr lang="en-CA" sz="2200" dirty="0"/>
              <a:t> candidates to proceed with.</a:t>
            </a:r>
            <a:endParaRPr lang="en-US" sz="2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CCA71-3454-80F4-4FF1-45F404BA8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gap.</a:t>
            </a:r>
          </a:p>
        </p:txBody>
      </p:sp>
      <p:pic>
        <p:nvPicPr>
          <p:cNvPr id="5" name="Graphic 4" descr="Cheers outline">
            <a:extLst>
              <a:ext uri="{FF2B5EF4-FFF2-40B4-BE49-F238E27FC236}">
                <a16:creationId xmlns:a16="http://schemas.microsoft.com/office/drawing/2014/main" id="{F8A040F1-247E-CD2A-C43B-8EBC27A84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7380" y="2860470"/>
            <a:ext cx="2379508" cy="237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804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5173C-3C24-680C-1E66-F4FF6FEF2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8FE8-AB1F-D2F9-B110-FF3B103E8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opportunity.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13CA-A0FF-EDE1-989B-54ED5C783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221" y="2098831"/>
            <a:ext cx="7418476" cy="3042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000" b="1" dirty="0" err="1"/>
              <a:t>ToxQuest</a:t>
            </a:r>
            <a:r>
              <a:rPr lang="en-CA" sz="2000" b="1" dirty="0"/>
              <a:t> is a cooperative multi-agent AI platform that leverages </a:t>
            </a:r>
            <a:r>
              <a:rPr lang="en-CA" sz="2000" b="1" i="1" dirty="0"/>
              <a:t>existing </a:t>
            </a:r>
            <a:r>
              <a:rPr lang="en-CA" sz="2000" b="1" dirty="0"/>
              <a:t>toxicity prediction models into one decision-making support tool.</a:t>
            </a:r>
          </a:p>
          <a:p>
            <a:r>
              <a:rPr lang="en-CA" sz="2000" dirty="0"/>
              <a:t>We don’t reinvent the wheel. We use what’s already existing, trained and validated.</a:t>
            </a:r>
          </a:p>
          <a:p>
            <a:r>
              <a:rPr lang="en-CA" sz="2000" i="1" dirty="0"/>
              <a:t>Users need decisions</a:t>
            </a:r>
            <a:r>
              <a:rPr lang="en-CA" sz="2000" dirty="0"/>
              <a:t>, not just toxicity scores. Plenty of great AI toxicity prediction tools exist out there, but they don’t directly help narrow down a list of candidate molecules.</a:t>
            </a:r>
            <a:endParaRPr lang="en-CA" sz="2000" b="1" dirty="0"/>
          </a:p>
          <a:p>
            <a:pPr marL="0" indent="0">
              <a:buNone/>
            </a:pPr>
            <a:r>
              <a:rPr lang="en-CA" sz="2000" b="1" dirty="0"/>
              <a:t>Our Strategy:</a:t>
            </a:r>
            <a:r>
              <a:rPr lang="en-CA" sz="2000" dirty="0"/>
              <a:t> We integrate existing AI toxicity prediction tools into one simple coordination layer to provide users with their BEST candidates to proceed into pre-clinical testing with. </a:t>
            </a:r>
            <a:endParaRPr lang="en-US" sz="2000" dirty="0"/>
          </a:p>
        </p:txBody>
      </p:sp>
      <p:pic>
        <p:nvPicPr>
          <p:cNvPr id="1026" name="Picture 2" descr="Don't Reinvent The Wheel Redesign It! | by ofilispeaks | Medium">
            <a:extLst>
              <a:ext uri="{FF2B5EF4-FFF2-40B4-BE49-F238E27FC236}">
                <a16:creationId xmlns:a16="http://schemas.microsoft.com/office/drawing/2014/main" id="{7416DB78-DDB2-B87A-FAFF-62F3E3B256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9" t="6592" r="13084" b="14312"/>
          <a:stretch/>
        </p:blipFill>
        <p:spPr bwMode="auto">
          <a:xfrm>
            <a:off x="7863697" y="1907532"/>
            <a:ext cx="4121006" cy="304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2603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B5F14-32CC-B790-21CA-E29E38423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812E-AADF-D770-A0DC-6B6FFD656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game.</a:t>
            </a:r>
          </a:p>
        </p:txBody>
      </p:sp>
      <p:pic>
        <p:nvPicPr>
          <p:cNvPr id="8" name="Picture 7" descr="A diagram of a company&#10;&#10;AI-generated content may be incorrect.">
            <a:extLst>
              <a:ext uri="{FF2B5EF4-FFF2-40B4-BE49-F238E27FC236}">
                <a16:creationId xmlns:a16="http://schemas.microsoft.com/office/drawing/2014/main" id="{3B1D4F79-8F36-C716-5E51-9A0D67672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98" y="1193370"/>
            <a:ext cx="5337994" cy="50446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11C4C0-482D-0FF3-BB4C-1E6D6DA9884B}"/>
              </a:ext>
            </a:extLst>
          </p:cNvPr>
          <p:cNvSpPr txBox="1"/>
          <p:nvPr/>
        </p:nvSpPr>
        <p:spPr>
          <a:xfrm>
            <a:off x="515112" y="1817398"/>
            <a:ext cx="502718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To use </a:t>
            </a:r>
            <a:r>
              <a:rPr lang="en-US" b="1" dirty="0" err="1">
                <a:solidFill>
                  <a:srgbClr val="002060"/>
                </a:solidFill>
              </a:rPr>
              <a:t>ToxQuest</a:t>
            </a:r>
            <a:r>
              <a:rPr lang="en-US" b="1" dirty="0">
                <a:solidFill>
                  <a:srgbClr val="002060"/>
                </a:solidFill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Client inputs a list of candidate molecules, </a:t>
            </a:r>
            <a:r>
              <a:rPr lang="en-CA" b="0" i="0" dirty="0">
                <a:solidFill>
                  <a:srgbClr val="242424"/>
                </a:solidFill>
                <a:effectLst/>
              </a:rPr>
              <a:t>obtained from virtual screening, generative models, rational design process, or any other source.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Each Agent (</a:t>
            </a:r>
            <a:r>
              <a:rPr lang="en-US" i="1" dirty="0"/>
              <a:t>existing</a:t>
            </a:r>
            <a:r>
              <a:rPr lang="en-US" dirty="0"/>
              <a:t>, open-source AI prediction model) makes their toxicity predictions independently.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Coordinator (our algorithm) integrates each Agents predictions into one decision-making layer.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The Result: </a:t>
            </a:r>
            <a:r>
              <a:rPr lang="en-CA" dirty="0"/>
              <a:t>a clear and explainable shortlist of top-performing candidate molecules, ready for preclinical testing.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73CD07-974D-59E4-1466-CDBF5FA7A6A0}"/>
              </a:ext>
            </a:extLst>
          </p:cNvPr>
          <p:cNvSpPr/>
          <p:nvPr/>
        </p:nvSpPr>
        <p:spPr>
          <a:xfrm>
            <a:off x="6373422" y="1149843"/>
            <a:ext cx="5256431" cy="5141447"/>
          </a:xfrm>
          <a:prstGeom prst="rect">
            <a:avLst/>
          </a:prstGeom>
          <a:noFill/>
          <a:ln w="38100">
            <a:solidFill>
              <a:srgbClr val="6E00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348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A1B1-B541-5B58-BF7A-CFF6DE067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concept.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4A5B1-9CE0-D93A-FCDC-F888FF6C7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898549"/>
            <a:ext cx="4947226" cy="45337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/>
              <a:t>ToxQuest</a:t>
            </a:r>
            <a:r>
              <a:rPr lang="en-US" dirty="0"/>
              <a:t> is based off the mathematical concept of “</a:t>
            </a:r>
            <a:r>
              <a:rPr lang="en-US" i="1" dirty="0"/>
              <a:t>satisficing pathways</a:t>
            </a:r>
            <a:r>
              <a:rPr lang="en-US" dirty="0"/>
              <a:t>” – a decision-making strategy that entails searching through available options until an acceptability threshold is met. </a:t>
            </a:r>
          </a:p>
          <a:p>
            <a:pPr marL="0" indent="0">
              <a:buNone/>
            </a:pPr>
            <a:r>
              <a:rPr lang="en-US" dirty="0"/>
              <a:t>While “</a:t>
            </a:r>
            <a:r>
              <a:rPr lang="en-US" i="1" dirty="0"/>
              <a:t>optimizing</a:t>
            </a:r>
            <a:r>
              <a:rPr lang="en-US" dirty="0"/>
              <a:t>” strives for the absolute best, “</a:t>
            </a:r>
            <a:r>
              <a:rPr lang="en-US" i="1" dirty="0"/>
              <a:t>satisficing</a:t>
            </a:r>
            <a:r>
              <a:rPr lang="en-US" dirty="0"/>
              <a:t>” finds solutions that meet a certain threshold, often more efficiently. 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>
                <a:effectLst/>
                <a:latin typeface=".SF NS"/>
              </a:rPr>
              <a:t>By treating each AI model as an Agent with a defined satisfaction </a:t>
            </a:r>
            <a:r>
              <a:rPr lang="en-CA" dirty="0">
                <a:latin typeface=".SF NS"/>
              </a:rPr>
              <a:t>threshold,</a:t>
            </a:r>
            <a:endParaRPr lang="en-CA" dirty="0">
              <a:effectLst/>
              <a:latin typeface=".SF NS"/>
            </a:endParaRPr>
          </a:p>
          <a:p>
            <a:pPr marL="342900" indent="-342900">
              <a:buAutoNum type="arabicPeriod"/>
            </a:pPr>
            <a:r>
              <a:rPr lang="en-CA" dirty="0">
                <a:effectLst/>
                <a:latin typeface=".SF NS"/>
              </a:rPr>
              <a:t>And constructing paths that maintain satisfaction for </a:t>
            </a:r>
            <a:r>
              <a:rPr lang="en-CA" dirty="0">
                <a:latin typeface=".SF NS"/>
              </a:rPr>
              <a:t>the greatest number of Agents</a:t>
            </a:r>
            <a:r>
              <a:rPr lang="en-CA" dirty="0">
                <a:effectLst/>
                <a:latin typeface=".SF NS"/>
              </a:rPr>
              <a:t>, </a:t>
            </a:r>
          </a:p>
          <a:p>
            <a:pPr marL="342900" indent="-342900">
              <a:buAutoNum type="arabicPeriod"/>
            </a:pPr>
            <a:r>
              <a:rPr lang="en-CA" dirty="0">
                <a:effectLst/>
                <a:latin typeface=".SF NS"/>
              </a:rPr>
              <a:t>It's possible to reach an equilibrium where all models are satisfied</a:t>
            </a:r>
            <a:r>
              <a:rPr lang="en-CA" dirty="0">
                <a:latin typeface=".SF NS"/>
              </a:rPr>
              <a:t> (</a:t>
            </a:r>
            <a:r>
              <a:rPr lang="en-CA" dirty="0">
                <a:effectLst/>
                <a:latin typeface=".SF NS"/>
              </a:rPr>
              <a:t>if such a state exists), otherwise the most “satisfying” candidate is found. </a:t>
            </a:r>
          </a:p>
          <a:p>
            <a:pPr marL="0" indent="0">
              <a:buNone/>
            </a:pPr>
            <a:endParaRPr lang="en-CA" dirty="0"/>
          </a:p>
          <a:p>
            <a:pPr lvl="1"/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8" name="Picture 7" descr="A diagram of a drug model&#10;&#10;AI-generated content may be incorrect.">
            <a:extLst>
              <a:ext uri="{FF2B5EF4-FFF2-40B4-BE49-F238E27FC236}">
                <a16:creationId xmlns:a16="http://schemas.microsoft.com/office/drawing/2014/main" id="{40386C19-79CC-A191-2836-95C45E8EA2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00" t="7089" r="10174"/>
          <a:stretch/>
        </p:blipFill>
        <p:spPr>
          <a:xfrm>
            <a:off x="5265683" y="1156138"/>
            <a:ext cx="6737131" cy="54752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F4AF95-34D8-A405-FD2E-C7EAAC0CA8EA}"/>
              </a:ext>
            </a:extLst>
          </p:cNvPr>
          <p:cNvSpPr txBox="1"/>
          <p:nvPr/>
        </p:nvSpPr>
        <p:spPr>
          <a:xfrm>
            <a:off x="6755051" y="786806"/>
            <a:ext cx="3758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>
                <a:solidFill>
                  <a:srgbClr val="002060"/>
                </a:solidFill>
              </a:rPr>
              <a:t>ToxQuest</a:t>
            </a:r>
            <a:r>
              <a:rPr lang="en-US" b="1" u="sng" dirty="0">
                <a:solidFill>
                  <a:srgbClr val="002060"/>
                </a:solidFill>
              </a:rPr>
              <a:t> Architecture Flow Chart</a:t>
            </a:r>
          </a:p>
        </p:txBody>
      </p:sp>
    </p:spTree>
    <p:extLst>
      <p:ext uri="{BB962C8B-B14F-4D97-AF65-F5344CB8AC3E}">
        <p14:creationId xmlns:p14="http://schemas.microsoft.com/office/powerpoint/2010/main" val="714578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D43AF-FE3B-BAF5-9F45-FF4300806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AAFF5E8-42D5-DF83-F7B4-1DFA74B5A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/>
          <a:lstStyle/>
          <a:p>
            <a:r>
              <a:rPr lang="en-US" dirty="0"/>
              <a:t>the theory.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F6A5BFD-9E6A-199A-50E1-E60AE7C9594D}"/>
              </a:ext>
            </a:extLst>
          </p:cNvPr>
          <p:cNvGrpSpPr/>
          <p:nvPr/>
        </p:nvGrpSpPr>
        <p:grpSpPr>
          <a:xfrm>
            <a:off x="5987445" y="793304"/>
            <a:ext cx="5196370" cy="5742255"/>
            <a:chOff x="515112" y="1659989"/>
            <a:chExt cx="4450783" cy="4973422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CA134F2-C6FE-A0AF-7D62-5E86C380D281}"/>
                </a:ext>
              </a:extLst>
            </p:cNvPr>
            <p:cNvSpPr/>
            <p:nvPr/>
          </p:nvSpPr>
          <p:spPr>
            <a:xfrm>
              <a:off x="515112" y="1659989"/>
              <a:ext cx="4450783" cy="4973422"/>
            </a:xfrm>
            <a:prstGeom prst="roundRect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 descr="A screenshot of a cell phone&#10;&#10;AI-generated content may be incorrect.">
              <a:extLst>
                <a:ext uri="{FF2B5EF4-FFF2-40B4-BE49-F238E27FC236}">
                  <a16:creationId xmlns:a16="http://schemas.microsoft.com/office/drawing/2014/main" id="{415F4583-B32F-F5B4-AC70-1E554FECA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3289"/>
            <a:stretch/>
          </p:blipFill>
          <p:spPr>
            <a:xfrm>
              <a:off x="949898" y="1820309"/>
              <a:ext cx="3690669" cy="4604853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20DCE2C-145F-9B0D-32A9-082665C880A8}"/>
              </a:ext>
            </a:extLst>
          </p:cNvPr>
          <p:cNvGrpSpPr/>
          <p:nvPr/>
        </p:nvGrpSpPr>
        <p:grpSpPr>
          <a:xfrm>
            <a:off x="1388011" y="4339883"/>
            <a:ext cx="3922540" cy="2420320"/>
            <a:chOff x="6262663" y="978408"/>
            <a:chExt cx="4706577" cy="2870921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2A5E857-5996-C28D-B792-6CF070C54D27}"/>
                </a:ext>
              </a:extLst>
            </p:cNvPr>
            <p:cNvSpPr/>
            <p:nvPr/>
          </p:nvSpPr>
          <p:spPr>
            <a:xfrm>
              <a:off x="6262663" y="978408"/>
              <a:ext cx="4706577" cy="2870921"/>
            </a:xfrm>
            <a:prstGeom prst="round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 descr="A screenshot of a test&#10;&#10;AI-generated content may be incorrect.">
              <a:extLst>
                <a:ext uri="{FF2B5EF4-FFF2-40B4-BE49-F238E27FC236}">
                  <a16:creationId xmlns:a16="http://schemas.microsoft.com/office/drawing/2014/main" id="{FD06E743-C0BC-7A87-9DF1-3030086EE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40732" y="1187457"/>
              <a:ext cx="4350438" cy="2507982"/>
            </a:xfrm>
            <a:prstGeom prst="rect">
              <a:avLst/>
            </a:prstGeom>
          </p:spPr>
        </p:pic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B6B9E96-FEF4-37FB-6A5C-B5E96FB65217}"/>
              </a:ext>
            </a:extLst>
          </p:cNvPr>
          <p:cNvSpPr/>
          <p:nvPr/>
        </p:nvSpPr>
        <p:spPr>
          <a:xfrm>
            <a:off x="793237" y="1730326"/>
            <a:ext cx="4517314" cy="2420320"/>
          </a:xfrm>
          <a:prstGeom prst="roundRect">
            <a:avLst/>
          </a:prstGeom>
          <a:solidFill>
            <a:srgbClr val="2563EC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Content Placeholder 21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334AA495-2F53-CF60-92D8-A41B206C5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r="3136"/>
          <a:stretch/>
        </p:blipFill>
        <p:spPr>
          <a:xfrm>
            <a:off x="864058" y="1950851"/>
            <a:ext cx="4375672" cy="1979270"/>
          </a:xfrm>
        </p:spPr>
      </p:pic>
    </p:spTree>
    <p:extLst>
      <p:ext uri="{BB962C8B-B14F-4D97-AF65-F5344CB8AC3E}">
        <p14:creationId xmlns:p14="http://schemas.microsoft.com/office/powerpoint/2010/main" val="4090129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7651D-46A9-BC31-C6F2-E858A3CF5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7F16-2BBD-BF83-117B-3382CFF0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benefit.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F1D069-2BD9-C05D-34A8-A05C6D591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835790"/>
              </p:ext>
            </p:extLst>
          </p:nvPr>
        </p:nvGraphicFramePr>
        <p:xfrm>
          <a:off x="515112" y="1709928"/>
          <a:ext cx="10698471" cy="494628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974046">
                  <a:extLst>
                    <a:ext uri="{9D8B030D-6E8A-4147-A177-3AD203B41FA5}">
                      <a16:colId xmlns:a16="http://schemas.microsoft.com/office/drawing/2014/main" val="3996138096"/>
                    </a:ext>
                  </a:extLst>
                </a:gridCol>
                <a:gridCol w="7724425">
                  <a:extLst>
                    <a:ext uri="{9D8B030D-6E8A-4147-A177-3AD203B41FA5}">
                      <a16:colId xmlns:a16="http://schemas.microsoft.com/office/drawing/2014/main" val="1103528134"/>
                    </a:ext>
                  </a:extLst>
                </a:gridCol>
              </a:tblGrid>
              <a:tr h="814744">
                <a:tc>
                  <a:txBody>
                    <a:bodyPr/>
                    <a:lstStyle/>
                    <a:p>
                      <a:r>
                        <a:rPr lang="en-CA" b="1" dirty="0"/>
                        <a:t>Lower Development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Integration of existing AI models allows for quicker implementation and deployment vs. developing/validating a new model from scratch.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742514"/>
                  </a:ext>
                </a:extLst>
              </a:tr>
              <a:tr h="465568">
                <a:tc>
                  <a:txBody>
                    <a:bodyPr/>
                    <a:lstStyle/>
                    <a:p>
                      <a:r>
                        <a:rPr lang="en-CA" b="1" dirty="0"/>
                        <a:t>Faster Time-to-Market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Narrows client candidate molecule list faster, earlier and better than other methods.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7373516"/>
                  </a:ext>
                </a:extLst>
              </a:tr>
              <a:tr h="465568">
                <a:tc>
                  <a:txBody>
                    <a:bodyPr/>
                    <a:lstStyle/>
                    <a:p>
                      <a:r>
                        <a:rPr lang="en-CA" b="1" dirty="0"/>
                        <a:t>Explainability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Candidate list output is traceable to specific toxicity predictions from each Agent.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494520"/>
                  </a:ext>
                </a:extLst>
              </a:tr>
              <a:tr h="465568">
                <a:tc>
                  <a:txBody>
                    <a:bodyPr/>
                    <a:lstStyle/>
                    <a:p>
                      <a:r>
                        <a:rPr lang="en-CA" b="1" dirty="0"/>
                        <a:t>Differentiation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 err="1"/>
                        <a:t>ToxQuest</a:t>
                      </a:r>
                      <a:r>
                        <a:rPr lang="en-CA" dirty="0"/>
                        <a:t> occupies a unique position as an AI tool coordinator/integrator rather than another competitor model.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6778562"/>
                  </a:ext>
                </a:extLst>
              </a:tr>
              <a:tr h="465568">
                <a:tc>
                  <a:txBody>
                    <a:bodyPr/>
                    <a:lstStyle/>
                    <a:p>
                      <a:r>
                        <a:rPr lang="en-CA" b="1" dirty="0"/>
                        <a:t>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By incorporating multiple models, the output candidate list is high confidence.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711633"/>
                  </a:ext>
                </a:extLst>
              </a:tr>
              <a:tr h="465568">
                <a:tc>
                  <a:txBody>
                    <a:bodyPr/>
                    <a:lstStyle/>
                    <a:p>
                      <a:r>
                        <a:rPr lang="en-CA" b="1" dirty="0"/>
                        <a:t>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Addresses the fragmentation of individual AI models who might specialize in different domains.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36217"/>
                  </a:ext>
                </a:extLst>
              </a:tr>
              <a:tr h="465568">
                <a:tc>
                  <a:txBody>
                    <a:bodyPr/>
                    <a:lstStyle/>
                    <a:p>
                      <a:r>
                        <a:rPr lang="en-CA" b="1" dirty="0"/>
                        <a:t>Adaptability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Not tied to any specific model, can accommodate emerging models.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579580"/>
                  </a:ext>
                </a:extLst>
              </a:tr>
              <a:tr h="465568">
                <a:tc>
                  <a:txBody>
                    <a:bodyPr/>
                    <a:lstStyle/>
                    <a:p>
                      <a:r>
                        <a:rPr lang="en-CA" b="1" dirty="0"/>
                        <a:t>Partnerships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Partnership opportunities with existing AI model providers.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949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1695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FBA94-EBEF-D85A-B408-AB458ADF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IP strategy.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65FB7-D202-8FB9-722B-C52C3603F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763" y="2857500"/>
            <a:ext cx="3498019" cy="25180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The novelty of </a:t>
            </a:r>
            <a:r>
              <a:rPr lang="en-CA" dirty="0" err="1"/>
              <a:t>ToxQuest</a:t>
            </a:r>
            <a:r>
              <a:rPr lang="en-CA" dirty="0"/>
              <a:t> is in coordinating multiple existing models into one platform, preserving their autonomy, and integrating them through a game-theoretic, satisficing pathway. The IP would be on the architecture of the platform, not on the models themselves.</a:t>
            </a:r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US" dirty="0"/>
          </a:p>
        </p:txBody>
      </p:sp>
      <p:pic>
        <p:nvPicPr>
          <p:cNvPr id="5" name="Picture 4" descr="A map and a point with dots&#10;&#10;AI-generated content may be incorrect.">
            <a:extLst>
              <a:ext uri="{FF2B5EF4-FFF2-40B4-BE49-F238E27FC236}">
                <a16:creationId xmlns:a16="http://schemas.microsoft.com/office/drawing/2014/main" id="{6A5C3288-CC9F-EF03-04A3-EE8138787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614" y="1452172"/>
            <a:ext cx="5939914" cy="52490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A47007-A74D-17B8-02B1-F5ED01943BB5}"/>
              </a:ext>
            </a:extLst>
          </p:cNvPr>
          <p:cNvSpPr txBox="1"/>
          <p:nvPr/>
        </p:nvSpPr>
        <p:spPr>
          <a:xfrm>
            <a:off x="6178481" y="1463706"/>
            <a:ext cx="343222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solidFill>
                  <a:srgbClr val="002060"/>
                </a:solidFill>
              </a:rPr>
              <a:t>IP Strategy Road Map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98815-C2CD-2D5D-98FE-D8A921D68BCD}"/>
              </a:ext>
            </a:extLst>
          </p:cNvPr>
          <p:cNvSpPr txBox="1"/>
          <p:nvPr/>
        </p:nvSpPr>
        <p:spPr>
          <a:xfrm>
            <a:off x="8580318" y="2322355"/>
            <a:ext cx="35227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Phase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Architecture and MVP creation on database of molecules with known safety and efficacy using narrow toxicity metrics.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A7F8DC-2A43-D734-679C-7A76631CC194}"/>
              </a:ext>
            </a:extLst>
          </p:cNvPr>
          <p:cNvSpPr txBox="1"/>
          <p:nvPr/>
        </p:nvSpPr>
        <p:spPr>
          <a:xfrm>
            <a:off x="4633244" y="3199518"/>
            <a:ext cx="30904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Phase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 for a utility patent to protect the decision-making algorithm and data flow architecture, </a:t>
            </a:r>
            <a:r>
              <a:rPr lang="en-US" i="1" dirty="0"/>
              <a:t>not</a:t>
            </a:r>
            <a:r>
              <a:rPr lang="en-US" dirty="0"/>
              <a:t> on the input models.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2551B9-BD2A-CEB0-A5FD-935DFBEDB4BE}"/>
              </a:ext>
            </a:extLst>
          </p:cNvPr>
          <p:cNvSpPr txBox="1"/>
          <p:nvPr/>
        </p:nvSpPr>
        <p:spPr>
          <a:xfrm>
            <a:off x="8580318" y="4165889"/>
            <a:ext cx="35227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Phase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a user-friendly interface that can be copy-</a:t>
            </a:r>
            <a:r>
              <a:rPr lang="en-US" dirty="0" err="1"/>
              <a:t>writed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Trademark the </a:t>
            </a:r>
            <a:r>
              <a:rPr lang="en-US" dirty="0" err="1"/>
              <a:t>ToxQuest</a:t>
            </a:r>
            <a:r>
              <a:rPr lang="en-US" dirty="0"/>
              <a:t> brand.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08D605C-1622-B797-D965-23BEC324D9B6}"/>
              </a:ext>
            </a:extLst>
          </p:cNvPr>
          <p:cNvSpPr/>
          <p:nvPr/>
        </p:nvSpPr>
        <p:spPr>
          <a:xfrm>
            <a:off x="494577" y="2441448"/>
            <a:ext cx="3712455" cy="312807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F8C3F8-2E7A-3F4E-F0A7-CCC8B6707BD1}"/>
              </a:ext>
            </a:extLst>
          </p:cNvPr>
          <p:cNvSpPr/>
          <p:nvPr/>
        </p:nvSpPr>
        <p:spPr>
          <a:xfrm>
            <a:off x="494577" y="2103120"/>
            <a:ext cx="556983" cy="75438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 descr="Information with solid fill">
            <a:extLst>
              <a:ext uri="{FF2B5EF4-FFF2-40B4-BE49-F238E27FC236}">
                <a16:creationId xmlns:a16="http://schemas.microsoft.com/office/drawing/2014/main" id="{9C82DFEB-A3E5-5FDE-7A28-1608C3BA3F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69" y="1751728"/>
            <a:ext cx="1224788" cy="122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745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7E8F-935D-1192-F4E3-29FD783FC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market.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329882-9C4D-6A4C-23E4-2ECF10A59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33356"/>
              </p:ext>
            </p:extLst>
          </p:nvPr>
        </p:nvGraphicFramePr>
        <p:xfrm>
          <a:off x="675104" y="1826572"/>
          <a:ext cx="10841792" cy="42113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116222">
                  <a:extLst>
                    <a:ext uri="{9D8B030D-6E8A-4147-A177-3AD203B41FA5}">
                      <a16:colId xmlns:a16="http://schemas.microsoft.com/office/drawing/2014/main" val="3410737842"/>
                    </a:ext>
                  </a:extLst>
                </a:gridCol>
                <a:gridCol w="2791327">
                  <a:extLst>
                    <a:ext uri="{9D8B030D-6E8A-4147-A177-3AD203B41FA5}">
                      <a16:colId xmlns:a16="http://schemas.microsoft.com/office/drawing/2014/main" val="4275527368"/>
                    </a:ext>
                  </a:extLst>
                </a:gridCol>
                <a:gridCol w="2201779">
                  <a:extLst>
                    <a:ext uri="{9D8B030D-6E8A-4147-A177-3AD203B41FA5}">
                      <a16:colId xmlns:a16="http://schemas.microsoft.com/office/drawing/2014/main" val="3282605227"/>
                    </a:ext>
                  </a:extLst>
                </a:gridCol>
                <a:gridCol w="3732464">
                  <a:extLst>
                    <a:ext uri="{9D8B030D-6E8A-4147-A177-3AD203B41FA5}">
                      <a16:colId xmlns:a16="http://schemas.microsoft.com/office/drawing/2014/main" val="3430899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Market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Our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 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Why us, now?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375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 Addressable Market (TAM)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Global AI in Drug Discovery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$1.9 billion USD in 2023, CAGR of 29.6% 2024-2032 </a:t>
                      </a:r>
                      <a:r>
                        <a:rPr lang="en-US" sz="1500" dirty="0"/>
                        <a:t>(Global Market Insights)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is a fast-growing sector, with opportunity for early adoption in small biotech, later adoption by big pharma.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813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Service Available Market (SAM)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 in predictive toxicology for drug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$281 million USD in 2022, CAGR 29.5% 2023-2032</a:t>
                      </a:r>
                    </a:p>
                    <a:p>
                      <a:r>
                        <a:rPr lang="en-US" sz="1500" dirty="0"/>
                        <a:t>(Global Market Insights)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ToxQuest</a:t>
                      </a:r>
                      <a:r>
                        <a:rPr lang="en-US" dirty="0"/>
                        <a:t> targets AI adopters who need explainable decisions where every $ spent matters in preclinical testing.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163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Service Obtainable Market (SOM)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Academic screening labs, CROs, early-stage biotech seeking to identify their top candidate molecules to proceed with.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1% of SAM in first few years = $2.8 million/year (rough estimate).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Very limited direct competition for our coordination platform, but indirect competition from AI drug discovery platforms = lower SOM, but a growing SAM/TAM.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126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454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116DB-49B3-3950-6575-5FBC0112E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A5EC2-5AEC-F995-2717-E1EB1BF05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drivers.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F448BBF-3218-97F8-F933-08FDADEE07B9}"/>
              </a:ext>
            </a:extLst>
          </p:cNvPr>
          <p:cNvSpPr/>
          <p:nvPr/>
        </p:nvSpPr>
        <p:spPr>
          <a:xfrm>
            <a:off x="521207" y="2947016"/>
            <a:ext cx="11005045" cy="10634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CD6BBC2-0CD4-C66F-8C77-C5DB02DA8EAC}"/>
              </a:ext>
            </a:extLst>
          </p:cNvPr>
          <p:cNvSpPr/>
          <p:nvPr/>
        </p:nvSpPr>
        <p:spPr>
          <a:xfrm>
            <a:off x="521207" y="4146682"/>
            <a:ext cx="11005045" cy="10634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6A84849-8E61-9D25-8962-A70C314A034B}"/>
              </a:ext>
            </a:extLst>
          </p:cNvPr>
          <p:cNvSpPr/>
          <p:nvPr/>
        </p:nvSpPr>
        <p:spPr>
          <a:xfrm>
            <a:off x="521207" y="5316033"/>
            <a:ext cx="11005045" cy="1063468"/>
          </a:xfrm>
          <a:prstGeom prst="roundRect">
            <a:avLst/>
          </a:prstGeom>
          <a:solidFill>
            <a:srgbClr val="F7D4FE"/>
          </a:solidFill>
          <a:ln>
            <a:solidFill>
              <a:srgbClr val="6E00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78AA7-DB83-D411-5519-DE0ABE5604B7}"/>
              </a:ext>
            </a:extLst>
          </p:cNvPr>
          <p:cNvSpPr txBox="1"/>
          <p:nvPr/>
        </p:nvSpPr>
        <p:spPr>
          <a:xfrm>
            <a:off x="521207" y="2974892"/>
            <a:ext cx="110050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CA" sz="1600" b="1" u="sng" dirty="0">
                <a:solidFill>
                  <a:srgbClr val="002060"/>
                </a:solidFill>
              </a:rPr>
              <a:t>Cost Saving Driver</a:t>
            </a:r>
          </a:p>
          <a:p>
            <a:pPr algn="ctr"/>
            <a:r>
              <a:rPr lang="en-CA" sz="1600" dirty="0"/>
              <a:t>Toxicity failures account for approximately 30% of drug development failures, representing billions in wasted R&amp;D spending that </a:t>
            </a:r>
            <a:r>
              <a:rPr lang="en-CA" sz="1600" dirty="0" err="1"/>
              <a:t>ToxQuest</a:t>
            </a:r>
            <a:r>
              <a:rPr lang="en-CA" sz="1600" dirty="0"/>
              <a:t> could help reduce. </a:t>
            </a:r>
          </a:p>
          <a:p>
            <a:pPr marL="0" indent="0" algn="ctr">
              <a:buNone/>
            </a:pPr>
            <a:endParaRPr lang="en-CA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7E124-7FE0-4C02-0B30-AEA13088E1B4}"/>
              </a:ext>
            </a:extLst>
          </p:cNvPr>
          <p:cNvSpPr txBox="1"/>
          <p:nvPr/>
        </p:nvSpPr>
        <p:spPr>
          <a:xfrm>
            <a:off x="521207" y="4200115"/>
            <a:ext cx="10989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CA" sz="1600" b="1" u="sng" dirty="0">
                <a:solidFill>
                  <a:srgbClr val="002060"/>
                </a:solidFill>
              </a:rPr>
              <a:t>Geographic Driver</a:t>
            </a:r>
          </a:p>
          <a:p>
            <a:pPr marL="0" indent="0" algn="ctr">
              <a:buNone/>
            </a:pPr>
            <a:r>
              <a:rPr lang="en-CA" sz="1600" dirty="0"/>
              <a:t>Biotech in Canada is experiencing growth in public-private partnerships, now is a good opportunity for </a:t>
            </a:r>
            <a:r>
              <a:rPr lang="en-CA" sz="1600" dirty="0" err="1"/>
              <a:t>ToxQuest</a:t>
            </a:r>
            <a:r>
              <a:rPr lang="en-CA" sz="1600" dirty="0"/>
              <a:t> to partner with other biotech start-ups, CROs or academic labs who having received recent funding for drug discovery.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36C3D7-F33B-8C6E-85D1-85358C557872}"/>
              </a:ext>
            </a:extLst>
          </p:cNvPr>
          <p:cNvSpPr txBox="1"/>
          <p:nvPr/>
        </p:nvSpPr>
        <p:spPr>
          <a:xfrm>
            <a:off x="521208" y="5340983"/>
            <a:ext cx="109890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b="1" u="sng" dirty="0">
                <a:solidFill>
                  <a:srgbClr val="002060"/>
                </a:solidFill>
              </a:rPr>
              <a:t>Acquisition Driver</a:t>
            </a:r>
          </a:p>
          <a:p>
            <a:pPr algn="ctr"/>
            <a:r>
              <a:rPr lang="en-CA" sz="1600" dirty="0"/>
              <a:t>The rising trend of pharmaceutical companies acquiring AI toxicity prediction startups makes </a:t>
            </a:r>
            <a:r>
              <a:rPr lang="en-CA" sz="1600" dirty="0" err="1"/>
              <a:t>ToxQuest's</a:t>
            </a:r>
            <a:r>
              <a:rPr lang="en-CA" sz="1600" dirty="0"/>
              <a:t> exit strategy viable. </a:t>
            </a:r>
            <a:r>
              <a:rPr lang="en-CA" sz="1600" dirty="0" err="1"/>
              <a:t>ToxQuest</a:t>
            </a:r>
            <a:r>
              <a:rPr lang="en-CA" sz="1600" dirty="0"/>
              <a:t> aim is not to be a huge, expensive endeavor but rather to be lean and student-driven, making it an appealing acquisition. </a:t>
            </a:r>
          </a:p>
          <a:p>
            <a:endParaRPr lang="en-US" sz="1600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523470D-E24F-B0B2-115B-ED8F8384C9F0}"/>
              </a:ext>
            </a:extLst>
          </p:cNvPr>
          <p:cNvSpPr/>
          <p:nvPr/>
        </p:nvSpPr>
        <p:spPr>
          <a:xfrm>
            <a:off x="505245" y="1747350"/>
            <a:ext cx="11005045" cy="1063468"/>
          </a:xfrm>
          <a:prstGeom prst="roundRect">
            <a:avLst/>
          </a:prstGeom>
          <a:solidFill>
            <a:srgbClr val="E1FDFE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B9EB24-500B-CBDA-4078-CFF6A0BDB49A}"/>
              </a:ext>
            </a:extLst>
          </p:cNvPr>
          <p:cNvSpPr txBox="1"/>
          <p:nvPr/>
        </p:nvSpPr>
        <p:spPr>
          <a:xfrm>
            <a:off x="505244" y="1795136"/>
            <a:ext cx="11005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CA" sz="1600" b="1" u="sng" dirty="0">
                <a:solidFill>
                  <a:srgbClr val="002060"/>
                </a:solidFill>
              </a:rPr>
              <a:t>Growth Driver</a:t>
            </a:r>
          </a:p>
          <a:p>
            <a:pPr marL="0" indent="0" algn="ctr">
              <a:buNone/>
            </a:pPr>
            <a:r>
              <a:rPr lang="en-CA" sz="1600" dirty="0"/>
              <a:t>AI in Toxicity Prediction for Drug Discovery is growing fast, driven by the ability to save time by predicting toxicity early and reducing expensive later-stage failures.</a:t>
            </a:r>
          </a:p>
        </p:txBody>
      </p:sp>
    </p:spTree>
    <p:extLst>
      <p:ext uri="{BB962C8B-B14F-4D97-AF65-F5344CB8AC3E}">
        <p14:creationId xmlns:p14="http://schemas.microsoft.com/office/powerpoint/2010/main" val="86209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315A-C654-DB8D-5630-9357738C3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7EA70B9-6E66-5465-B5D5-D12161A803D3}"/>
              </a:ext>
            </a:extLst>
          </p:cNvPr>
          <p:cNvSpPr/>
          <p:nvPr/>
        </p:nvSpPr>
        <p:spPr>
          <a:xfrm>
            <a:off x="505245" y="1747350"/>
            <a:ext cx="11005045" cy="1063468"/>
          </a:xfrm>
          <a:prstGeom prst="roundRect">
            <a:avLst/>
          </a:prstGeom>
          <a:solidFill>
            <a:srgbClr val="E1FDFE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77471-A45C-A780-524A-4F44F2C28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245" y="958748"/>
            <a:ext cx="11155680" cy="1463040"/>
          </a:xfrm>
        </p:spPr>
        <p:txBody>
          <a:bodyPr/>
          <a:lstStyle/>
          <a:p>
            <a:r>
              <a:rPr lang="en-US" dirty="0"/>
              <a:t>the business model.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D3DEA6-948D-9C3F-70C2-8CCAFFB3CEF4}"/>
              </a:ext>
            </a:extLst>
          </p:cNvPr>
          <p:cNvSpPr/>
          <p:nvPr/>
        </p:nvSpPr>
        <p:spPr>
          <a:xfrm>
            <a:off x="521207" y="2947016"/>
            <a:ext cx="11005045" cy="10634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3E60451-D86E-39C5-07D3-C55DD6743278}"/>
              </a:ext>
            </a:extLst>
          </p:cNvPr>
          <p:cNvSpPr/>
          <p:nvPr/>
        </p:nvSpPr>
        <p:spPr>
          <a:xfrm>
            <a:off x="521207" y="4146682"/>
            <a:ext cx="11005045" cy="10634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662065B-8E31-D708-0AA2-EBD6E698C53B}"/>
              </a:ext>
            </a:extLst>
          </p:cNvPr>
          <p:cNvSpPr/>
          <p:nvPr/>
        </p:nvSpPr>
        <p:spPr>
          <a:xfrm>
            <a:off x="521207" y="5316033"/>
            <a:ext cx="11005045" cy="1063468"/>
          </a:xfrm>
          <a:prstGeom prst="roundRect">
            <a:avLst/>
          </a:prstGeom>
          <a:solidFill>
            <a:srgbClr val="F7D4FE"/>
          </a:solidFill>
          <a:ln>
            <a:solidFill>
              <a:srgbClr val="6E00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5CEBCB-BEC3-EA32-5782-143EA77A0614}"/>
              </a:ext>
            </a:extLst>
          </p:cNvPr>
          <p:cNvSpPr txBox="1"/>
          <p:nvPr/>
        </p:nvSpPr>
        <p:spPr>
          <a:xfrm>
            <a:off x="521207" y="2924983"/>
            <a:ext cx="110050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CA" sz="1600" b="1" u="sng" dirty="0">
                <a:solidFill>
                  <a:srgbClr val="002060"/>
                </a:solidFill>
              </a:rPr>
              <a:t>Technology Value Proposition</a:t>
            </a:r>
            <a:r>
              <a:rPr lang="en-CA" sz="1600" u="sng" dirty="0">
                <a:solidFill>
                  <a:srgbClr val="002060"/>
                </a:solidFill>
              </a:rPr>
              <a:t> </a:t>
            </a:r>
          </a:p>
          <a:p>
            <a:pPr marL="0" indent="0">
              <a:buNone/>
            </a:pPr>
            <a:r>
              <a:rPr lang="en-CA" sz="1600" dirty="0"/>
              <a:t>Integrate the most trusted open-source toxicity prediction models under a single coordination platform. First demonstrate with a pool of </a:t>
            </a:r>
            <a:r>
              <a:rPr lang="en-CA" sz="1600" b="1" i="1" dirty="0"/>
              <a:t>known</a:t>
            </a:r>
            <a:r>
              <a:rPr lang="en-CA" sz="1600" dirty="0"/>
              <a:t> drugs that </a:t>
            </a:r>
            <a:r>
              <a:rPr lang="en-CA" sz="1600" dirty="0" err="1"/>
              <a:t>ToxQuest</a:t>
            </a:r>
            <a:r>
              <a:rPr lang="en-CA" sz="1600" dirty="0"/>
              <a:t> accurately identifies the least toxic/best candidate to move forward with pre-clinical experiments.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15035-189A-BBC6-C9B4-8A7C5187EC7F}"/>
              </a:ext>
            </a:extLst>
          </p:cNvPr>
          <p:cNvSpPr txBox="1"/>
          <p:nvPr/>
        </p:nvSpPr>
        <p:spPr>
          <a:xfrm>
            <a:off x="505245" y="1763915"/>
            <a:ext cx="110050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CA" sz="1600" b="1" u="sng" dirty="0">
                <a:solidFill>
                  <a:srgbClr val="002060"/>
                </a:solidFill>
              </a:rPr>
              <a:t>Acquisition Strategy </a:t>
            </a:r>
          </a:p>
          <a:p>
            <a:pPr marL="0" indent="0">
              <a:buNone/>
            </a:pPr>
            <a:r>
              <a:rPr lang="en-CA" sz="1600" dirty="0" err="1"/>
              <a:t>ToxQuest</a:t>
            </a:r>
            <a:r>
              <a:rPr lang="en-CA" sz="1600" dirty="0"/>
              <a:t> would be structured as a focused, capital-efficient startup with the primary goal of acquisition within 3-5 years by a CRO, early-stage biotech or academic drug screening lab seeking to enhance their compound selection processes.</a:t>
            </a:r>
          </a:p>
          <a:p>
            <a:pPr marL="0" indent="0">
              <a:buNone/>
            </a:pPr>
            <a:endParaRPr lang="en-CA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940D2B-EA0A-2425-D741-1C1CB0E33CB5}"/>
              </a:ext>
            </a:extLst>
          </p:cNvPr>
          <p:cNvSpPr txBox="1"/>
          <p:nvPr/>
        </p:nvSpPr>
        <p:spPr>
          <a:xfrm>
            <a:off x="521207" y="4124649"/>
            <a:ext cx="109890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CA" sz="1600" b="1" u="sng" dirty="0">
                <a:solidFill>
                  <a:srgbClr val="002060"/>
                </a:solidFill>
              </a:rPr>
              <a:t>Validation Strategy</a:t>
            </a:r>
          </a:p>
          <a:p>
            <a:pPr marL="0" indent="0">
              <a:buNone/>
            </a:pPr>
            <a:r>
              <a:rPr lang="en-CA" sz="1600" dirty="0"/>
              <a:t>Demonstrate that top candidates selected by </a:t>
            </a:r>
            <a:r>
              <a:rPr lang="en-CA" sz="1600" dirty="0" err="1"/>
              <a:t>ToxQuest</a:t>
            </a:r>
            <a:r>
              <a:rPr lang="en-CA" sz="1600" dirty="0"/>
              <a:t> have lower failure rates in subsequent toxicity testing, and that this generates a ROI based on avoided downstream preclinical toxicity experiment costs on compounds that would ultimately fail.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EE9052-03D1-1A18-DE12-458E9A02EC22}"/>
              </a:ext>
            </a:extLst>
          </p:cNvPr>
          <p:cNvSpPr txBox="1"/>
          <p:nvPr/>
        </p:nvSpPr>
        <p:spPr>
          <a:xfrm>
            <a:off x="521208" y="5340983"/>
            <a:ext cx="109890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b="1" u="sng" dirty="0">
                <a:solidFill>
                  <a:srgbClr val="002060"/>
                </a:solidFill>
              </a:rPr>
              <a:t>Financial Structure</a:t>
            </a:r>
          </a:p>
          <a:p>
            <a:r>
              <a:rPr lang="en-CA" sz="1600" dirty="0"/>
              <a:t>Focus expenditures on technology development and validation rather than sales and marketing. Keep the team lean, and mostly student-entrepreneurs. Mentorship/consulting for IP, due diligence prior to market entry would be sought out.  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60774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C24EC-B9B8-F0AA-A7EE-D6E75875E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B1D8-DDE0-2BD7-147D-B0BA54A6A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team.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5744375-6ADD-9D73-B15A-0A4B8CC014F3}"/>
              </a:ext>
            </a:extLst>
          </p:cNvPr>
          <p:cNvSpPr/>
          <p:nvPr/>
        </p:nvSpPr>
        <p:spPr>
          <a:xfrm>
            <a:off x="8690008" y="3230359"/>
            <a:ext cx="3176337" cy="2911642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4D1D032-6D4F-BA10-4579-26158BA2FA79}"/>
              </a:ext>
            </a:extLst>
          </p:cNvPr>
          <p:cNvSpPr/>
          <p:nvPr/>
        </p:nvSpPr>
        <p:spPr>
          <a:xfrm>
            <a:off x="515112" y="1973179"/>
            <a:ext cx="3176337" cy="2911642"/>
          </a:xfrm>
          <a:prstGeom prst="ellipse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583E5F6-D197-B035-E405-BC4AECA25359}"/>
              </a:ext>
            </a:extLst>
          </p:cNvPr>
          <p:cNvSpPr/>
          <p:nvPr/>
        </p:nvSpPr>
        <p:spPr>
          <a:xfrm>
            <a:off x="5763125" y="918852"/>
            <a:ext cx="3176337" cy="2911642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5753EB0-3CA4-0C8E-00AE-CB9EEEE08D4A}"/>
              </a:ext>
            </a:extLst>
          </p:cNvPr>
          <p:cNvSpPr/>
          <p:nvPr/>
        </p:nvSpPr>
        <p:spPr>
          <a:xfrm>
            <a:off x="3691449" y="3830494"/>
            <a:ext cx="3176337" cy="2911642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B9AE89-948D-7EF3-93F0-FE62C264BFDF}"/>
              </a:ext>
            </a:extLst>
          </p:cNvPr>
          <p:cNvSpPr txBox="1"/>
          <p:nvPr/>
        </p:nvSpPr>
        <p:spPr>
          <a:xfrm>
            <a:off x="767753" y="2774499"/>
            <a:ext cx="26710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Domain Expert</a:t>
            </a:r>
          </a:p>
          <a:p>
            <a:pPr algn="ctr"/>
            <a:r>
              <a:rPr lang="en-US" sz="2000" dirty="0"/>
              <a:t>Toxicology expertise and drug development knowledge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7B641-9647-791C-465B-98262E1F06B8}"/>
              </a:ext>
            </a:extLst>
          </p:cNvPr>
          <p:cNvSpPr txBox="1"/>
          <p:nvPr/>
        </p:nvSpPr>
        <p:spPr>
          <a:xfrm>
            <a:off x="3934807" y="4479576"/>
            <a:ext cx="26710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</a:rPr>
              <a:t>Software Engineer</a:t>
            </a:r>
          </a:p>
          <a:p>
            <a:pPr algn="ctr"/>
            <a:r>
              <a:rPr lang="en-US" sz="2000" dirty="0"/>
              <a:t>System architecture and data flow code implementation. Graphic interface design.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0F066D-9995-CAC3-1ABD-45A125F71B4B}"/>
              </a:ext>
            </a:extLst>
          </p:cNvPr>
          <p:cNvSpPr txBox="1"/>
          <p:nvPr/>
        </p:nvSpPr>
        <p:spPr>
          <a:xfrm>
            <a:off x="6009670" y="1550196"/>
            <a:ext cx="267105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Machine Learning Specialist</a:t>
            </a:r>
          </a:p>
          <a:p>
            <a:pPr algn="ctr"/>
            <a:r>
              <a:rPr lang="en-US" sz="2000" dirty="0"/>
              <a:t>Creation of the core decision-making layer using satisficing paths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90EB56-A000-6A49-9608-AC21DE9F52BC}"/>
              </a:ext>
            </a:extLst>
          </p:cNvPr>
          <p:cNvSpPr txBox="1"/>
          <p:nvPr/>
        </p:nvSpPr>
        <p:spPr>
          <a:xfrm>
            <a:off x="9005835" y="3822914"/>
            <a:ext cx="26710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6E00AD"/>
                </a:solidFill>
              </a:rPr>
              <a:t>Business Development Lead</a:t>
            </a:r>
          </a:p>
          <a:p>
            <a:pPr algn="ctr"/>
            <a:r>
              <a:rPr lang="en-US" sz="2000" dirty="0"/>
              <a:t>Sourcing funding opportunities, market and IP strategy analysis</a:t>
            </a:r>
          </a:p>
        </p:txBody>
      </p:sp>
    </p:spTree>
    <p:extLst>
      <p:ext uri="{BB962C8B-B14F-4D97-AF65-F5344CB8AC3E}">
        <p14:creationId xmlns:p14="http://schemas.microsoft.com/office/powerpoint/2010/main" val="2008083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A372A-BD47-969D-F869-F64889482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E5127-71B5-0935-5FDC-ECD59F24E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exit strategy.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6A1A75D-B885-0CD8-20AE-446FA881E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112264"/>
            <a:ext cx="1115568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First Use-Case:</a:t>
            </a:r>
          </a:p>
          <a:p>
            <a:r>
              <a:rPr lang="en-CA" dirty="0"/>
              <a:t>Secure NDAs + collaboration agreements with academic labs or small </a:t>
            </a:r>
            <a:r>
              <a:rPr lang="en-CA" dirty="0" err="1"/>
              <a:t>biotechs</a:t>
            </a:r>
            <a:r>
              <a:rPr lang="en-CA" dirty="0"/>
              <a:t>. </a:t>
            </a:r>
          </a:p>
          <a:p>
            <a:r>
              <a:rPr lang="en-CA" dirty="0"/>
              <a:t>Publish selected outcomes to build brand + moat.</a:t>
            </a:r>
            <a:endParaRPr lang="en-US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Exit Strategy: Acquisition for In-House Use. </a:t>
            </a:r>
            <a:endParaRPr lang="en-US" dirty="0"/>
          </a:p>
          <a:p>
            <a:r>
              <a:rPr lang="en-US" dirty="0"/>
              <a:t> A pharma or biotech buys the platform. </a:t>
            </a:r>
          </a:p>
          <a:p>
            <a:r>
              <a:rPr lang="en-CA" dirty="0"/>
              <a:t>They don’t want key pipeline decisions dependent on an external service forever. Owning the tech = owning the risk.</a:t>
            </a:r>
          </a:p>
          <a:p>
            <a:r>
              <a:rPr lang="en-CA" dirty="0"/>
              <a:t>Acquiring the platform allows them to modify thresholds, models, rules, and adapt it per therapeutic area.</a:t>
            </a:r>
          </a:p>
          <a:p>
            <a:r>
              <a:rPr lang="en-CA" dirty="0"/>
              <a:t>Acquiring the platform early prevents competitors from using your system.</a:t>
            </a:r>
          </a:p>
          <a:p>
            <a:endParaRPr lang="en-CA" dirty="0"/>
          </a:p>
          <a:p>
            <a:endParaRPr lang="en-US" dirty="0"/>
          </a:p>
          <a:p>
            <a:pPr marL="342900" indent="-342900"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25850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1702</TotalTime>
  <Words>1898</Words>
  <Application>Microsoft Macintosh PowerPoint</Application>
  <PresentationFormat>Widescreen</PresentationFormat>
  <Paragraphs>145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.SF NS</vt:lpstr>
      <vt:lpstr>Aptos</vt:lpstr>
      <vt:lpstr>Arial</vt:lpstr>
      <vt:lpstr>Bierstadt</vt:lpstr>
      <vt:lpstr>GestaltVTI</vt:lpstr>
      <vt:lpstr>ToxQuest An AI Decision Support Tool for Drug Discovery</vt:lpstr>
      <vt:lpstr>executive summary.</vt:lpstr>
      <vt:lpstr>the problem.</vt:lpstr>
      <vt:lpstr>the gap.</vt:lpstr>
      <vt:lpstr>the opportunity.</vt:lpstr>
      <vt:lpstr>the game.</vt:lpstr>
      <vt:lpstr>the concept. </vt:lpstr>
      <vt:lpstr>the theory. </vt:lpstr>
      <vt:lpstr>the benefit. </vt:lpstr>
      <vt:lpstr>the IP strategy. </vt:lpstr>
      <vt:lpstr>the market.</vt:lpstr>
      <vt:lpstr>the drivers.</vt:lpstr>
      <vt:lpstr>the business model. </vt:lpstr>
      <vt:lpstr>the team.</vt:lpstr>
      <vt:lpstr>the exit strategy.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Germain</dc:creator>
  <cp:lastModifiedBy>Logan Germain</cp:lastModifiedBy>
  <cp:revision>14</cp:revision>
  <dcterms:created xsi:type="dcterms:W3CDTF">2025-04-15T17:21:50Z</dcterms:created>
  <dcterms:modified xsi:type="dcterms:W3CDTF">2025-05-07T15:25:45Z</dcterms:modified>
</cp:coreProperties>
</file>